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碳  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碳足迹 · 全民绿色生活碳积分与减排指南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7E8DC"/>
                </a:solidFill>
                <a:latin typeface="微软雅黑"/>
                <a:ea typeface="微软雅黑"/>
                <a:cs typeface="微软雅黑"/>
              </a:rPr>
              <a:t>赛题二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85032" y="502920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178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量化减排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22392" y="502920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178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积分激励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59752" y="5029200"/>
            <a:ext cx="1554480" cy="457200"/>
          </a:xfrm>
          <a:prstGeom prst="roundRect">
            <a:avLst>
              <a:gd name="adj" fmla="val 8000"/>
            </a:avLst>
          </a:prstGeom>
          <a:solidFill>
            <a:srgbClr val="178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碳普惠回馈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汇报要点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841248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20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01   </a:t>
            </a:r>
            <a:r>
              <a:rPr sz="19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选题背景与设计思路</a:t>
            </a: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      为什么做、怎么做、有哪些取舍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40864"/>
            <a:ext cx="10698480" cy="841248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20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02   </a:t>
            </a:r>
            <a:r>
              <a:rPr sz="19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功能实现与演示</a:t>
            </a: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      五个主要功能 + 四个创新拓展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10128"/>
            <a:ext cx="10698480" cy="841248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20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03   </a:t>
            </a:r>
            <a:r>
              <a:rPr sz="19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技术架构与选型</a:t>
            </a: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      分层架构、数据层关键决策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79392"/>
            <a:ext cx="10698480" cy="841248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20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04   </a:t>
            </a:r>
            <a:r>
              <a:rPr sz="19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碳排放因子库来源</a:t>
            </a: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      每个数字都能追溯到出处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248656"/>
            <a:ext cx="10698480" cy="841248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/>
            <a:r>
              <a:rPr sz="20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05   </a:t>
            </a:r>
            <a:r>
              <a:rPr sz="19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测试与验证</a:t>
            </a: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      真机实测结果与已知限制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选题背景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「双碳」目标需要公众参与这一环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我国提出「双碳」目标：二氧化碳排放力争 2030 年前达到峰值，努力争取 2060 年前实现碳中和。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工业与能源领域的减排路径相对清晰，但**公众日常行为的减排贡献长期难以量化**——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一个人少开一天车、少浪费一顿饭，到底减了多少碳？这个数字没人告诉他。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没有量化，就没有反馈；没有反馈，低碳行为就很难坚持。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2834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算不清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不知道自己的行为对应多少碳排放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657600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840480"/>
            <a:ext cx="2834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坚持难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缺少即时反馈与正向激励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657600"/>
            <a:ext cx="3383280" cy="173736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3840480"/>
            <a:ext cx="28346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没回馈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减排了也换不来任何实际权益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本作品要做的，就是把这条链路补上：让每一次低碳行为都被算清楚、被记录、被回馈。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设计思路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围绕「量化 — 激励 — 回馈」做成闭环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1920240"/>
          </a:xfrm>
          <a:prstGeom prst="roundRect">
            <a:avLst>
              <a:gd name="adj" fmla="val 10000"/>
            </a:avLst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627632"/>
            <a:ext cx="28803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量化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7E8DC"/>
                </a:solidFill>
                <a:latin typeface="微软雅黑"/>
                <a:ea typeface="微软雅黑"/>
                <a:cs typeface="微软雅黑"/>
              </a:rPr>
              <a:t>行为量 × 碳排放因子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7E8DC"/>
                </a:solidFill>
                <a:latin typeface="微软雅黑"/>
                <a:ea typeface="微软雅黑"/>
                <a:cs typeface="微软雅黑"/>
              </a:rPr>
              <a:t>四类日常行为折算为可比较的减排量（kg CO₂e）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51376" y="2212848"/>
            <a:ext cx="201168" cy="365760"/>
          </a:xfrm>
          <a:prstGeom prst="rightArrow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1920240"/>
          </a:xfrm>
          <a:prstGeom prst="roundRect">
            <a:avLst>
              <a:gd name="adj" fmla="val 10000"/>
            </a:avLst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627632"/>
            <a:ext cx="28803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激励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7E8DC"/>
                </a:solidFill>
                <a:latin typeface="微软雅黑"/>
                <a:ea typeface="微软雅黑"/>
                <a:cs typeface="微软雅黑"/>
              </a:rPr>
              <a:t>减排量 → 碳积分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7E8DC"/>
                </a:solidFill>
                <a:latin typeface="微软雅黑"/>
                <a:ea typeface="微软雅黑"/>
                <a:cs typeface="微软雅黑"/>
              </a:rPr>
              <a:t>每日任务、虚拟徽章与电子证书形成正反馈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08976" y="2212848"/>
            <a:ext cx="201168" cy="365760"/>
          </a:xfrm>
          <a:prstGeom prst="rightArrow">
            <a:avLst/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1920240"/>
          </a:xfrm>
          <a:prstGeom prst="roundRect">
            <a:avLst>
              <a:gd name="adj" fmla="val 10000"/>
            </a:avLst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627632"/>
            <a:ext cx="28803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回馈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D7E8DC"/>
                </a:solidFill>
                <a:latin typeface="微软雅黑"/>
                <a:ea typeface="微软雅黑"/>
                <a:cs typeface="微软雅黑"/>
              </a:rPr>
              <a:t>积分 → 真实权益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7E8DC"/>
                </a:solidFill>
                <a:latin typeface="微软雅黑"/>
                <a:ea typeface="微软雅黑"/>
                <a:cs typeface="微软雅黑"/>
              </a:rPr>
              <a:t>上报城市碳普惠平台，兑换地铁券、单车券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三处刻意的取舍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3383280" cy="192024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370832"/>
            <a:ext cx="28803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数据不出设备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全量本地存储、完全离线可用。
碳账本属于个人数据，
这既是隐私优势，
也让演示不依赖网络。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4206240"/>
            <a:ext cx="3383280" cy="192024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2" y="4370832"/>
            <a:ext cx="28803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AI 只预填不判定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高置信才自动填表，
低置信交给用户确认。
通用模型分不清
新能源车与燃油车。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206240"/>
            <a:ext cx="3383280" cy="192024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2752" y="4370832"/>
            <a:ext cx="28803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因子必须可追溯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每条因子标注来源与基准。
答辩时能逐条讲清
「这个数是怎么来的」。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功能总览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五个主要功能全部实现，四个创新拓展全部实现，视觉体系整体返工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457200"/>
          </a:xfrm>
          <a:prstGeom prst="roundRect">
            <a:avLst>
              <a:gd name="adj" fmla="val 14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主要功能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32588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低碳行为核算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325880"/>
            <a:ext cx="5852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四类行为录入，内置因子库自动折算减排量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457200"/>
          </a:xfrm>
          <a:prstGeom prst="roundRect">
            <a:avLst>
              <a:gd name="adj" fmla="val 14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主要功能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82880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数据可视化看板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828800"/>
            <a:ext cx="5852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折线 / 柱状 / 环形图 + 减排日历热力图，日周月年粒度切换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286000"/>
            <a:ext cx="10698480" cy="457200"/>
          </a:xfrm>
          <a:prstGeom prst="roundRect">
            <a:avLst>
              <a:gd name="adj" fmla="val 14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3172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主要功能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33172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碳积分激励体系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331720"/>
            <a:ext cx="5852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每 kg CO₂e 得 100 积分，勋章墙与电子证书兑换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88920"/>
            <a:ext cx="10698480" cy="457200"/>
          </a:xfrm>
          <a:prstGeom prst="roundRect">
            <a:avLst>
              <a:gd name="adj" fmla="val 14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3464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主要功能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83464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双碳科普专栏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834640"/>
            <a:ext cx="5852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8 篇图文科普，按政策/概念/数据/技巧分类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91840"/>
            <a:ext cx="10698480" cy="457200"/>
          </a:xfrm>
          <a:prstGeom prst="roundRect">
            <a:avLst>
              <a:gd name="adj" fmla="val 14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33756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主要功能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333756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本地数据管理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337560"/>
            <a:ext cx="5852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JSON 备份与 CSV 报表导出，全程离线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794760"/>
            <a:ext cx="10698480" cy="457200"/>
          </a:xfrm>
          <a:prstGeom prst="roundRect">
            <a:avLst>
              <a:gd name="adj" fmla="val 14000"/>
            </a:avLst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8404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8A00"/>
                </a:solidFill>
                <a:latin typeface="微软雅黑"/>
                <a:ea typeface="微软雅黑"/>
                <a:cs typeface="微软雅黑"/>
              </a:rPr>
              <a:t>创新拓展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84048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超级终端多设备同步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3840480"/>
            <a:ext cx="5852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分布式数据服务 + 同步状态可视化面板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297680"/>
            <a:ext cx="10698480" cy="457200"/>
          </a:xfrm>
          <a:prstGeom prst="roundRect">
            <a:avLst>
              <a:gd name="adj" fmla="val 14000"/>
            </a:avLst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34340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8A00"/>
                </a:solidFill>
                <a:latin typeface="微软雅黑"/>
                <a:ea typeface="微软雅黑"/>
                <a:cs typeface="微软雅黑"/>
              </a:rPr>
              <a:t>创新拓展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34340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端侧 AI 图片识别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4343400"/>
            <a:ext cx="5852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端侧推理 + 端侧 OCR 双通路，离线不出设备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800600"/>
            <a:ext cx="10698480" cy="457200"/>
          </a:xfrm>
          <a:prstGeom prst="roundRect">
            <a:avLst>
              <a:gd name="adj" fmla="val 14000"/>
            </a:avLst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4632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8A00"/>
                </a:solidFill>
                <a:latin typeface="微软雅黑"/>
                <a:ea typeface="微软雅黑"/>
                <a:cs typeface="微软雅黑"/>
              </a:rPr>
              <a:t>创新拓展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484632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模拟城市碳普惠接口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4846320"/>
            <a:ext cx="5852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账户/上报/权益/兑换/订单完整链路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303520"/>
            <a:ext cx="10698480" cy="457200"/>
          </a:xfrm>
          <a:prstGeom prst="roundRect">
            <a:avLst>
              <a:gd name="adj" fmla="val 14000"/>
            </a:avLst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34924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8A00"/>
                </a:solidFill>
                <a:latin typeface="微软雅黑"/>
                <a:ea typeface="微软雅黑"/>
                <a:cs typeface="微软雅黑"/>
              </a:rPr>
              <a:t>创新拓展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534924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智能服务与社交分享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94960" y="5349240"/>
            <a:ext cx="5852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短板优先任务推荐 + 减排成果分享图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806440"/>
            <a:ext cx="10698480" cy="457200"/>
          </a:xfrm>
          <a:prstGeom prst="roundRect">
            <a:avLst>
              <a:gd name="adj" fmla="val 14000"/>
            </a:avLst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85216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8A00"/>
                </a:solidFill>
                <a:latin typeface="微软雅黑"/>
                <a:ea typeface="微软雅黑"/>
                <a:cs typeface="微软雅黑"/>
              </a:rPr>
              <a:t>新增页面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0" y="585216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我的年度碳迹（年度报告）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5852160"/>
            <a:ext cx="5852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从看板一键进入，全年汇总与减排构成一页读完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6309360"/>
            <a:ext cx="10698480" cy="457200"/>
          </a:xfrm>
          <a:prstGeom prst="roundRect">
            <a:avLst>
              <a:gd name="adj" fmla="val 14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635508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鸿蒙特色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286000" y="635508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桌面服务卡片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94960" y="6355080"/>
            <a:ext cx="5852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不开应用即可看今日碳数据，点卡片直达记录页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功能演示 · 低碳行为核算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主要功能 1：录入 → 自动折算减排量 → 发放积分</a:t>
            </a:r>
          </a:p>
        </p:txBody>
      </p:sp>
      <p:pic>
        <p:nvPicPr>
          <p:cNvPr id="5" name="Picture 4" descr="01-记一笔-初始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165" y="1417320"/>
            <a:ext cx="2460522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98165" y="5632704"/>
            <a:ext cx="246052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记一笔：英雄区 + 目标环 + 智能识图</a:t>
            </a:r>
          </a:p>
        </p:txBody>
      </p:sp>
      <p:pic>
        <p:nvPicPr>
          <p:cNvPr id="7" name="Picture 6" descr="02-记一笔-最近记录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417320"/>
            <a:ext cx="2460522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632704"/>
            <a:ext cx="246052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填写数量与日期 · 最近记录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实测：录入 12 公里步行 → 减排 2.35 kg CO₂e，发放 235 积分；未保存前「本次减排」保持待计算状态。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功能演示 · 数据可视化看板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主要功能 2：日 / 周 / 月 / 年四种统计粒度，数字全部来自真实录入</a:t>
            </a:r>
          </a:p>
        </p:txBody>
      </p:sp>
      <p:pic>
        <p:nvPicPr>
          <p:cNvPr id="5" name="Picture 4" descr="03-看板-总览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586" y="1417320"/>
            <a:ext cx="2460522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65586" y="5632704"/>
            <a:ext cx="246052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看板总览：英雄区 + 年度报告入口 + 统计粒度 + 减排日历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累计减排 14.62 kg CO₂e、共 6 条记录；首屏新增「我的年度碳迹」入口横幅，点开即进入全屏年度报告。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数据可视化 · 减排日历热力图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本次视觉改造新增：最近 12 周 × 7 天，四档色阶 + 连续记录天数</a:t>
            </a:r>
          </a:p>
        </p:txBody>
      </p:sp>
      <p:pic>
        <p:nvPicPr>
          <p:cNvPr id="5" name="Picture 4" descr="03-看板-总览-crop-40_1395_1280_19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63040"/>
            <a:ext cx="512064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328416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「减排日历」卡片：最近 12 周网格 + 连续记录天数</a:t>
            </a:r>
          </a:p>
        </p:txBody>
      </p:sp>
      <p:pic>
        <p:nvPicPr>
          <p:cNvPr id="7" name="Picture 6" descr="04-看板-减排日历-crop-40_150_1280_5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21024"/>
            <a:ext cx="5120640" cy="914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572000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四档色阶与图例（少 → 多，每格 = 一天）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257800" cy="96012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09928"/>
            <a:ext cx="4800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让「坚持」看得见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把每天的减排量铺成 12 周 × 7 天的格子，每格一天；连续记录天数用火焰徽章直接给出。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51760"/>
            <a:ext cx="5257800" cy="96012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761488"/>
            <a:ext cx="4800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四档色阶，不用图例也能读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按当日减排量分档着色，无记录为浅灰；卡片底部给出「少 → 多」图例与「每格 = 一天」标注。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03320"/>
            <a:ext cx="5257800" cy="96012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813048"/>
            <a:ext cx="4800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只用系统原生能力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网格由 ArkUI 原生布局绘制，没有引入第三方日历库，也不增加安装包体积。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754880"/>
            <a:ext cx="5257800" cy="96012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864608"/>
            <a:ext cx="4800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和统计粒度联动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日历始终展示最近 12 周，与上方日 / 周 / 月 / 年粒度互不干扰，可同时对照。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实测数据：最近 12 周共 6 天有记录，连续 1 天；色阶按当日减排量分档。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数据可视化 · 趋势与分类对比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折线看趋势、柱状看类目，横轴显示业务标签而非索引</a:t>
            </a:r>
          </a:p>
        </p:txBody>
      </p:sp>
      <p:pic>
        <p:nvPicPr>
          <p:cNvPr id="5" name="Picture 4" descr="04-看板-减排日历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165" y="1417320"/>
            <a:ext cx="2460522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98165" y="5632704"/>
            <a:ext cx="246052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减排趋势（本周）：实线为本期，灰色虚线为上期</a:t>
            </a:r>
          </a:p>
        </p:txBody>
      </p:sp>
      <p:pic>
        <p:nvPicPr>
          <p:cNvPr id="7" name="Picture 6" descr="05-看板-折线趋势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417320"/>
            <a:ext cx="2460522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632704"/>
            <a:ext cx="246052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分类减排对比与分类占比环形图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折线新增「上期」幽灵线，柱顶直接标注数值；环形图中心显示累计总量 14.62 kg，图例改用「色点 + 百分比 + 进度条」的原生样式。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智能服务 · 任务、建议与分享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创新拓展 4：短板优先推荐 + 数据事实驱动的建议 + 一键分享</a:t>
            </a:r>
          </a:p>
        </p:txBody>
      </p:sp>
      <p:pic>
        <p:nvPicPr>
          <p:cNvPr id="5" name="Picture 4" descr="06-看板-柱状对比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165" y="1417320"/>
            <a:ext cx="2460522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98165" y="5632704"/>
            <a:ext cx="246052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今日低碳任务与给你的低碳建议</a:t>
            </a:r>
          </a:p>
        </p:txBody>
      </p:sp>
      <p:pic>
        <p:nvPicPr>
          <p:cNvPr id="7" name="Picture 6" descr="07-看板-饼图与图例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417320"/>
            <a:ext cx="2460522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632704"/>
            <a:ext cx="246052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减排成果分享卡与「生成分享图 / 保存图片」入口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任务规则为「短板优先」：先选今日未记录的类目，再按历史条数从少到多排序；分享卡通过组件快照导出为图片。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新增页面 · 我的年度碳迹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本次视觉改造新增的第 6 个页面，从看板一键进入（全屏年度报告）</a:t>
            </a:r>
          </a:p>
        </p:txBody>
      </p:sp>
      <p:pic>
        <p:nvPicPr>
          <p:cNvPr id="5" name="Picture 4" descr="17-年度报告-封面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165" y="1417320"/>
            <a:ext cx="2460522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98165" y="5632704"/>
            <a:ext cx="246052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报告封面：年度、低碳称号、活跃天数与核心数字</a:t>
            </a:r>
          </a:p>
        </p:txBody>
      </p:sp>
      <p:pic>
        <p:nvPicPr>
          <p:cNvPr id="7" name="Picture 6" descr="18-年度报告-细节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417320"/>
            <a:ext cx="2460522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632704"/>
            <a:ext cx="246052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碳积分、减排构成（四色条形）与写在最后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全年汇总口径与看板完全一致：14.62 kg CO₂e、6 条记录、活跃 6 天、1,462 碳积分；减排构成的四色条形与看板环形图一一对应。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功能演示 · 积分激励与碳普惠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主要功能 3 + 创新拓展 3：碳积分、成就勋章与真实权益兑换</a:t>
            </a:r>
          </a:p>
        </p:txBody>
      </p:sp>
      <p:pic>
        <p:nvPicPr>
          <p:cNvPr id="5" name="Picture 4" descr="09-积分-碳普惠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165" y="1417320"/>
            <a:ext cx="2460522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98165" y="5632704"/>
            <a:ext cx="246052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积分英雄区（1,462 分 / 权益解锁 100%）与城市碳普惠平台</a:t>
            </a:r>
          </a:p>
        </p:txBody>
      </p:sp>
      <p:pic>
        <p:nvPicPr>
          <p:cNvPr id="7" name="Picture 6" descr="10-积分-权益与勋章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417320"/>
            <a:ext cx="2460522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632704"/>
            <a:ext cx="246052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可兑换权益（植树证书 / 碳中和达人证书）与积分流水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勋章墙 4 枚成就全部达成（低碳新芽 / 绿色先锋 / 减碳达人 / 碳中和之星）；积分流水逐条可追溯，与记录一一对应。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功能演示 · 双碳科普专栏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主要功能 4：8 篇图文科普，按政策 / 概念 / 数据 / 技巧分类</a:t>
            </a:r>
          </a:p>
        </p:txBody>
      </p:sp>
      <p:pic>
        <p:nvPicPr>
          <p:cNvPr id="5" name="Picture 4" descr="13-科普专栏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586" y="1417320"/>
            <a:ext cx="2460522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65586" y="5632704"/>
            <a:ext cx="246052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科普专栏：英雄区 + 分类标签 + 带图标块的文章卡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文章卡按分类使用不同颜色的图标块；内容以独立数据文件组织，后续扩充无需改动界面代码。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功能演示 · 我的：同步、AI 自检与数据管理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主要功能 5 + 创新拓展 1、2：档案、超级终端同步面板、端侧 AI 自检</a:t>
            </a:r>
          </a:p>
        </p:txBody>
      </p:sp>
      <p:pic>
        <p:nvPicPr>
          <p:cNvPr id="5" name="Picture 4" descr="14-我的-档案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165" y="1417320"/>
            <a:ext cx="2460522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98165" y="5632704"/>
            <a:ext cx="246052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我的：低碳称号英雄区 + 我的档案 + 超级终端同步</a:t>
            </a:r>
          </a:p>
        </p:txBody>
      </p:sp>
      <p:pic>
        <p:nvPicPr>
          <p:cNvPr id="7" name="Picture 6" descr="15-我的-同步面板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1417320"/>
            <a:ext cx="2460522" cy="4160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3007" y="5632704"/>
            <a:ext cx="246052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同步状态、端侧 AI 自检与本地数据管理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同步面板如实呈现本机标识、可信设备、同步结果与冲突计数；备份 JSON / 导出 CSV 均写入沙箱并回显路径。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视觉改造 · 改造前 vs 改造后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不是「重新配色」，而是把《HarmonyOS 设计规范》的官方 Token 真正落到每一个页面</a:t>
            </a:r>
          </a:p>
        </p:txBody>
      </p:sp>
      <p:pic>
        <p:nvPicPr>
          <p:cNvPr id="5" name="Picture 4" descr="改造前后对比-前端美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446520" cy="40645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527548"/>
            <a:ext cx="6446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六组「改造前 / 改造后」并排对比（含新增的年度报告页）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0920" y="1463040"/>
            <a:ext cx="4114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统一英雄区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五个页面都用「渐变英雄区」开场，按页面气质分三档绿色，但每页主角不同。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395728"/>
            <a:ext cx="4114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卡片默认投影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把「卡片长什么样」收敛到一个公共组件，投影成为默认行为，而不是逐页手写。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3328416"/>
            <a:ext cx="4114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列表图标化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科普、积分、同步等列表一律加图标块，同一屏里的信息密度立刻变得可读。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4261104"/>
            <a:ext cx="4114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弹簧动效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页签切换、类目选中、保存、展开折叠、环形进度共 9 处 animateTo，全工程从 0 到 9。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5349240"/>
            <a:ext cx="4114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可复现的量化结果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· 裸写颜色 104 处 → 12 处，孤儿色 12 种 → 0 种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· 官方字号令牌采纳 26 次 → 114 次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· 饼图百分比显示缺陷（曾达 2841%）已修复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鸿蒙特色 · 桌面服务卡片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不用打开应用，桌面上就能看到今日碳数据</a:t>
            </a:r>
          </a:p>
        </p:txBody>
      </p:sp>
      <p:pic>
        <p:nvPicPr>
          <p:cNvPr id="5" name="Picture 4" descr="14-服务卡片-特写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00200"/>
            <a:ext cx="4102249" cy="4023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5040" y="169164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180136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不开应用也能看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今日减排量、碳积分、近 7 日迷你趋势、个性化提示，全部常驻桌面。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715768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82549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三种尺寸自适应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支持 2×2 / 2×4 / 4×4，随桌面布局自由摆放。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739896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384962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数据实时同步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新增记录后主应用主动通知卡片刷新；系统也会定期拉取。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764024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487375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点击直达应用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点卡片直接进入记录页，省掉找图标这一步。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这是其它平台复刻不了的能力：安卓与小程序都没有等价的桌面常驻卡片机制。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四层结构，自上而下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960120"/>
          </a:xfrm>
          <a:prstGeom prst="roundRect">
            <a:avLst>
              <a:gd name="adj" fmla="val 10000"/>
            </a:avLst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表现层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581912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五个功能页签的界面与交互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4F4EA"/>
                </a:solidFill>
                <a:latin typeface="微软雅黑"/>
                <a:ea typeface="微软雅黑"/>
                <a:cs typeface="微软雅黑"/>
              </a:rPr>
              <a:t>记一笔 · 看板 · 积分 · 科普 · 我的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42032"/>
            <a:ext cx="10698480" cy="960120"/>
          </a:xfrm>
          <a:prstGeom prst="roundRect">
            <a:avLst>
              <a:gd name="adj" fmla="val 10000"/>
            </a:avLst>
          </a:prstGeom>
          <a:solidFill>
            <a:srgbClr val="27A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660904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领域逻辑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4F4EA"/>
                </a:solidFill>
                <a:latin typeface="微软雅黑"/>
                <a:ea typeface="微软雅黑"/>
                <a:cs typeface="微软雅黑"/>
              </a:rPr>
              <a:t>减排计算 · 积分规则 · 任务推荐 · 碳普惠流程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21024"/>
            <a:ext cx="10698480" cy="960120"/>
          </a:xfrm>
          <a:prstGeom prst="roundRect">
            <a:avLst>
              <a:gd name="adj" fmla="val 10000"/>
            </a:avLst>
          </a:prstGeom>
          <a:solidFill>
            <a:srgbClr val="3FB2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30752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39896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统一数据存取与跨设备同步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4F4EA"/>
                </a:solidFill>
                <a:latin typeface="微软雅黑"/>
                <a:ea typeface="微软雅黑"/>
                <a:cs typeface="微软雅黑"/>
              </a:rPr>
              <a:t>CarbonRepository（仓储） · DistributedStore（分布式 KV）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700016"/>
            <a:ext cx="10698480" cy="960120"/>
          </a:xfrm>
          <a:prstGeom prst="roundRect">
            <a:avLst>
              <a:gd name="adj" fmla="val 10000"/>
            </a:avLst>
          </a:prstGeom>
          <a:solidFill>
            <a:srgbClr val="6BC4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09744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能力层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818888"/>
            <a:ext cx="8229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鸿蒙系统能力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4F4EA"/>
                </a:solidFill>
                <a:latin typeface="微软雅黑"/>
                <a:ea typeface="微软雅黑"/>
                <a:cs typeface="微软雅黑"/>
              </a:rPr>
              <a:t>分布式 KV · 设备管理 · MindSpore Lite · Core Vision Kit · 组件快照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数据层的关键决策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为什么用分布式键值库，而不是关系型数据库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120640" cy="2286000"/>
          </a:xfrm>
          <a:prstGeom prst="roundRect">
            <a:avLst>
              <a:gd name="adj" fmla="val 8000"/>
            </a:avLst>
          </a:prstGeom>
          <a:solidFill>
            <a:srgbClr val="FB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D33A2C"/>
                </a:solidFill>
                <a:latin typeface="微软雅黑"/>
                <a:ea typeface="微软雅黑"/>
                <a:cs typeface="微软雅黑"/>
              </a:rPr>
              <a:t>如果先用 relationalStore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三张关系表：行为记录 / 因子库 / 积分流水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第 3 周接入分布式同步时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发现两套存储引擎互不通用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→ 整个数据层需要重写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120640" cy="2286000"/>
          </a:xfrm>
          <a:prstGeom prst="roundRect">
            <a:avLst>
              <a:gd name="adj" fmla="val 8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00200"/>
            <a:ext cx="45720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7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实际采用 distributedKVStore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以「主键为 key、JSON 为 value」建模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同步能力从一开始就在同一套引擎上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第 3 周变成「接入一个已有组件」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→ 不用重构数据层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键设计（同一分布式库内以 carbon: 前缀隔离）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34840"/>
            <a:ext cx="10698480" cy="402336"/>
          </a:xfrm>
          <a:prstGeom prst="roundRect">
            <a:avLst>
              <a:gd name="adj" fmla="val 16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471416"/>
            <a:ext cx="4206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behavior:&lt;id&gt;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471416"/>
            <a:ext cx="5852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一条低碳行为记录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92040"/>
            <a:ext cx="10698480" cy="402336"/>
          </a:xfrm>
          <a:prstGeom prst="roundRect">
            <a:avLst>
              <a:gd name="adj" fmla="val 16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928616"/>
            <a:ext cx="4206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points:&lt;id&gt;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928616"/>
            <a:ext cx="5852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一条积分流水（只增不改，天然免冲突）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49240"/>
            <a:ext cx="10698480" cy="402336"/>
          </a:xfrm>
          <a:prstGeom prst="roundRect">
            <a:avLst>
              <a:gd name="adj" fmla="val 16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385816"/>
            <a:ext cx="4206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5385816"/>
            <a:ext cx="5852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用户档案（单例）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06440"/>
            <a:ext cx="10698480" cy="402336"/>
          </a:xfrm>
          <a:prstGeom prst="roundRect">
            <a:avLst>
              <a:gd name="adj" fmla="val 16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843016"/>
            <a:ext cx="4206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platform:account / platform:order:&lt;id&gt;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5843016"/>
            <a:ext cx="585216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碳普惠账户与兑换订单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超级终端多设备同步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创新拓展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5156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755648"/>
            <a:ext cx="640080" cy="640080"/>
          </a:xfrm>
          <a:prstGeom prst="ellipse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6400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跨设备自动同步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手机与平板登录同一账号、完成设备认证后，行为记录与积分流水自动同步。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15768"/>
            <a:ext cx="10698480" cy="105156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916936"/>
            <a:ext cx="640080" cy="640080"/>
          </a:xfrm>
          <a:prstGeom prst="ellipse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44368"/>
            <a:ext cx="6400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52928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时间戳冲突处理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写入以 { payload, ts, origin } 信封落库，冲突时以最新时间戳为准，保证最终一致性。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77056"/>
            <a:ext cx="10698480" cy="105156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078224"/>
            <a:ext cx="640080" cy="640080"/>
          </a:xfrm>
          <a:prstGeom prst="ellipse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05656"/>
            <a:ext cx="6400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14216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同步状态可视化面板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展示本机标识、可信设备、上次同步时间、同步结果、冲突记录数与远端写入数。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家庭碳积分合并：通过用户档案中的「家庭 ID」实现，同 ID 设备同步后自然形成合并视图。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端侧 AI 图片识别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创新拓展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5156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755648"/>
            <a:ext cx="640080" cy="640080"/>
          </a:xfrm>
          <a:prstGeom prst="ellipse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6400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双通路设计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视觉通路用 MindSpore Lite 端侧推理 MobileNetV2；文字通路用端侧 OCR 读文字后按关键词映射。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15768"/>
            <a:ext cx="10698480" cy="105156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916936"/>
            <a:ext cx="640080" cy="640080"/>
          </a:xfrm>
          <a:prstGeom prst="ellipse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44368"/>
            <a:ext cx="6400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52928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推理链路已实测通过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模型 11.4 MB 加载成功，输入 [1,224,224,3]、输出 [1,500]，Top-5 分数区分度明显——端侧推理确实跑得起来。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77056"/>
            <a:ext cx="10698480" cy="105156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078224"/>
            <a:ext cx="640080" cy="640080"/>
          </a:xfrm>
          <a:prstGeom prst="ellipse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05656"/>
            <a:ext cx="6400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14216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只预填不判定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仅当置信度达阈值且映射到的因子确实存在时才自动填表，其余交给用户确认。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全程离线：模型随包内置，图片不会离开设备。作品还内置了「端侧 AI 自检」，用内置测试图打印张量形状与 Top-5 候选，既是验证手段，也是后续做类目标定的第一步。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模拟城市碳普惠接口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创新拓展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5156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755648"/>
            <a:ext cx="640080" cy="640080"/>
          </a:xfrm>
          <a:prstGeom prst="ellipse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6400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完整业务链路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账户绑定 → 积分上报 → 权益查询 → 权益兑换 → 订单查询，五个环节全部实现。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15768"/>
            <a:ext cx="10698480" cy="105156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916936"/>
            <a:ext cx="640080" cy="640080"/>
          </a:xfrm>
          <a:prstGeom prst="ellipse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44368"/>
            <a:ext cx="6400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52928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保留真实接口语义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异步调用、网络延迟、业务错误码、库存扣减、幂等与账户状态校验一应俱全。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77056"/>
            <a:ext cx="10698480" cy="105156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078224"/>
            <a:ext cx="640080" cy="640080"/>
          </a:xfrm>
          <a:prstGeom prst="ellipse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05656"/>
            <a:ext cx="6400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14216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业务层只依赖契约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未来对接真实平台时只需替换通信层，业务逻辑无需改动。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内置权益：地铁乘车券、共享单车券、环保购物袋、公园门票、电费红包——定价阶梯化，演示中既能展示兑换成功，也能展示积分不足分支。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智能服务与社交分享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创新拓展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5156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1755648"/>
            <a:ext cx="640080" cy="640080"/>
          </a:xfrm>
          <a:prstGeom prst="ellipse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6400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个性化低碳任务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每天 3 条，规则为「短板优先」：先选今日未记录的类目，再按历史条数从少到多排序。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15768"/>
            <a:ext cx="10698480" cy="105156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916936"/>
            <a:ext cx="640080" cy="640080"/>
          </a:xfrm>
          <a:prstGeom prst="ellipse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44368"/>
            <a:ext cx="6400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52928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数据事实驱动的建议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每条建议都对应一个具体事实，例如「本周比上周多减排 X kg」「还没记录过旧物回收」。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77056"/>
            <a:ext cx="10698480" cy="105156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4078224"/>
            <a:ext cx="640080" cy="640080"/>
          </a:xfrm>
          <a:prstGeom prst="ellipse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05656"/>
            <a:ext cx="6400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14216"/>
            <a:ext cx="9418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减排成果分享图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一键生成低碳成绩单（累计减排、等效植树、记录天数），通过组件快照导出为图片。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推荐逻辑采用可解释规则而非黑盒模型——答辩时能指着代码说清「智能」体现在哪里。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碳排放因子库：每个数字都能追溯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答辩重点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698480" cy="777240"/>
          </a:xfrm>
          <a:prstGeom prst="roundRect">
            <a:avLst>
              <a:gd name="adj" fmla="val 12000"/>
            </a:avLst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ER = AD × ( EF基准 − EF实际 )      减排量 = 活动量 × 基准与实际排放因子之差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2542032" cy="224028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217627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CPCD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中国产品全生命周期
温室气体排放系数库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用于：出行类、回收塑料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2377440"/>
            <a:ext cx="2542032" cy="224028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2542032"/>
            <a:ext cx="217627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生态环境部
公告 2025 年第 47 号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2023 年电力二氧化碳排放因子
（河南省 0.5897）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用于：节约用电、少开空调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2377440"/>
            <a:ext cx="2542032" cy="224028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542032"/>
            <a:ext cx="217627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DEFRA 2025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英国环境食品与农村事务部
（中国无官方对应值时）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用于：回收废纸/铝/旧衣物、供水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2377440"/>
            <a:ext cx="2542032" cy="2240280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9136" y="2542032"/>
            <a:ext cx="217627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中科院地理所
+ WWF + FAO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《中国城市餐饮食物浪费报告》
《Food Wastage Footprint》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用于：光盘行动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06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力求严谨的三点处理：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· 回收类、节水类、光盘类因子采用 DEFRA 口径，因为中国官方尚未发布对应值——应用内逐条标注「英国口径」，不做模糊处理。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· 「少开空调」按「节约的电量（度）」计量而非「小时」：每小时耗电量随匹数、能效、环温差异极大，按小时计量会引入不可控误差。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· 《大型活动碳中和实施指南》不含因子数值（只给标准对照），《省级温室气体清单编制指南》无「每人公里」口径——两者都不能误用。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测试与验证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HarmonyOS 7.0.0 模拟器实测，非推断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25296"/>
            <a:ext cx="10698480" cy="310896"/>
          </a:xfrm>
          <a:prstGeom prst="roundRect">
            <a:avLst>
              <a:gd name="adj" fmla="val 10000"/>
            </a:avLst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4358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24358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操作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243584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 / 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124358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91056"/>
            <a:ext cx="10698480" cy="310896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093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低碳行为核算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6093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录入 12 公里步行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609344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12 × 0.19567 ≈ 2.35 kg CO₂e，积分 235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60934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通过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1933956"/>
            <a:ext cx="10698480" cy="310896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19522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数据持久化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19522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重新安装应用后查看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1952244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数据仍在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195224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通过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276856"/>
            <a:ext cx="10698480" cy="310896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2951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数据可视化看板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22951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切粒度 + 看四类图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2295144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折线与柱状横轴显示日期/类目名，环形图中心显示总量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29514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通过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2619756"/>
            <a:ext cx="10698480" cy="310896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6380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分类占比与图例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26380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核对环形图与图例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2638044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百分比合计 100%（修复曾出现的 2841% 显示缺陷）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263804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通过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2962656"/>
            <a:ext cx="10698480" cy="310896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29809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减排日历热力图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29809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查看连续天数与色阶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2980944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12 周 × 7 天网格，色阶按当日减排量分档，连续天数正确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298094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通过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305556"/>
            <a:ext cx="10698480" cy="310896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3238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我的年度碳迹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33238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从看板进入报告页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3323844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全年汇总、减排构成与看板数据一致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332384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通过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3648456"/>
            <a:ext cx="10698480" cy="310896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36667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碳积分体系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36667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1,462 分下检查兑换可用性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3666744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勋章墙 4 枚全部达成，权益兑换可用性判断正确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366674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通过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91356"/>
            <a:ext cx="10698480" cy="310896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40096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科普专栏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40096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按标签筛选与展开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12080" y="4009644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8 篇文章分类与展开正常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0" y="400964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通过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4334256"/>
            <a:ext cx="10698480" cy="310896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680" y="43525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数据管理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0" y="43525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备份 JSON / 导出 CSV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4352544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文件写入沙箱并回显路径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2720" y="435254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通过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4677156"/>
            <a:ext cx="10698480" cy="310896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46954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智能任务推荐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17520" y="46954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当日记录出行后查看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12080" y="4695444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剩余三类成为待办（短板优先）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2720" y="469544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通过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1520" y="5020056"/>
            <a:ext cx="10698480" cy="310896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8680" y="50383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分享图生成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017520" y="50383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点击「生成分享图」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12080" y="5038344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沙箱内生成 PNG（约 97 KB）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32720" y="503834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通过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5362956"/>
            <a:ext cx="10698480" cy="310896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" y="53812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桌面服务卡片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17520" y="53812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长按图标 → 卡片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12080" y="5381244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卡片入口出现，实时渲染今日数据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32720" y="538124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通过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31520" y="5705856"/>
            <a:ext cx="10698480" cy="310896"/>
          </a:xfrm>
          <a:prstGeom prst="roundRect">
            <a:avLst>
              <a:gd name="adj" fmla="val 10000"/>
            </a:avLst>
          </a:prstGeom>
          <a:solidFill>
            <a:srgbClr val="E8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8680" y="57241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端侧 AI 自检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17520" y="5724144"/>
            <a:ext cx="21031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运行自检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12080" y="5724144"/>
            <a:ext cx="5029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模型加载成功，输出 [1,500] 与 Top-5 候选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32720" y="572414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9A4E"/>
                </a:solidFill>
                <a:latin typeface="微软雅黑"/>
                <a:ea typeface="微软雅黑"/>
                <a:cs typeface="微软雅黑"/>
              </a:rPr>
              <a:t>通过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另有 40 项纯逻辑单元断言（因子算术自洽性、任务推荐、生活建议、工具函数）全部通过；开发中据此发现并修复了 2 处缺陷。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420624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92608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已知限制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41248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8A6"/>
                </a:solidFill>
                <a:latin typeface="微软雅黑"/>
                <a:ea typeface="微软雅黑"/>
                <a:cs typeface="微软雅黑"/>
              </a:rPr>
              <a:t>如实说明能力边界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00784"/>
            <a:ext cx="10149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D98A00"/>
                </a:solidFill>
                <a:latin typeface="微软雅黑"/>
                <a:ea typeface="微软雅黑"/>
                <a:cs typeface="微软雅黑"/>
              </a:rPr>
              <a:t>创新拓展 1  多设备同步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界面与业务逻辑已完成，同步面板可正常展示状态；尚未在两台真机间做端到端验证。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原因：测试所用模拟器不具备分布式软总线能力，且分布式数据同步权限需真机授权弹窗。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4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09544"/>
            <a:ext cx="10149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D98A00"/>
                </a:solidFill>
                <a:latin typeface="微软雅黑"/>
                <a:ea typeface="微软雅黑"/>
                <a:cs typeface="微软雅黑"/>
              </a:rPr>
              <a:t>创新拓展 2  端侧 AI 的类目标定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视觉推理链路已实测可用；但「输出索引 → 业务类目」的标定表仍为空，文字识别通路未在设备上验证。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原因：标定必须用团队自己拍摄的真实照片；文字识别能力不支持模拟器运行。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718304"/>
            <a:ext cx="101498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1">
                <a:solidFill>
                  <a:srgbClr val="D98A00"/>
                </a:solidFill>
                <a:latin typeface="微软雅黑"/>
                <a:ea typeface="微软雅黑"/>
                <a:cs typeface="微软雅黑"/>
              </a:rPr>
              <a:t>因子库部分条目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B2733"/>
                </a:solidFill>
                <a:latin typeface="微软雅黑"/>
                <a:ea typeface="微软雅黑"/>
                <a:cs typeface="微软雅黑"/>
              </a:rPr>
              <a:t>回收类、节水类与光盘行动类采用英国 DEFRA 口径。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B7B"/>
                </a:solidFill>
                <a:latin typeface="微软雅黑"/>
                <a:ea typeface="微软雅黑"/>
                <a:cs typeface="微软雅黑"/>
              </a:rPr>
              <a:t>原因：中国官方尚未发布对应因子，已在应用内明确标注。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46B36"/>
                </a:solidFill>
                <a:latin typeface="微软雅黑"/>
                <a:ea typeface="微软雅黑"/>
                <a:cs typeface="微软雅黑"/>
              </a:rPr>
              <a:t>原则：把每一个数字都算清楚，把每一个来源都标明白，把每一点能力边界都如实说明。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9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103120"/>
            <a:ext cx="2194560" cy="1371600"/>
          </a:xfrm>
          <a:prstGeom prst="roundRect">
            <a:avLst>
              <a:gd name="adj" fmla="val 12000"/>
            </a:avLst>
          </a:prstGeom>
          <a:solidFill>
            <a:srgbClr val="178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4028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/ 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7E8DC"/>
                </a:solidFill>
                <a:latin typeface="微软雅黑"/>
                <a:ea typeface="微软雅黑"/>
                <a:cs typeface="微软雅黑"/>
              </a:rPr>
              <a:t>主要功能全部实现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2103120"/>
            <a:ext cx="2194560" cy="1371600"/>
          </a:xfrm>
          <a:prstGeom prst="roundRect">
            <a:avLst>
              <a:gd name="adj" fmla="val 12000"/>
            </a:avLst>
          </a:prstGeom>
          <a:solidFill>
            <a:srgbClr val="178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39" y="224028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/ 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7E8DC"/>
                </a:solidFill>
                <a:latin typeface="微软雅黑"/>
                <a:ea typeface="微软雅黑"/>
                <a:cs typeface="微软雅黑"/>
              </a:rPr>
              <a:t>创新拓展全部实现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03120"/>
            <a:ext cx="2194560" cy="1371600"/>
          </a:xfrm>
          <a:prstGeom prst="roundRect">
            <a:avLst>
              <a:gd name="adj" fmla="val 12000"/>
            </a:avLst>
          </a:prstGeom>
          <a:solidFill>
            <a:srgbClr val="178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224028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14 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7E8DC"/>
                </a:solidFill>
                <a:latin typeface="微软雅黑"/>
                <a:ea typeface="微软雅黑"/>
                <a:cs typeface="微软雅黑"/>
              </a:rPr>
              <a:t>因子全部标注权威出处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103120"/>
            <a:ext cx="2194560" cy="1371600"/>
          </a:xfrm>
          <a:prstGeom prst="roundRect">
            <a:avLst>
              <a:gd name="adj" fmla="val 12000"/>
            </a:avLst>
          </a:prstGeom>
          <a:solidFill>
            <a:srgbClr val="178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2240280"/>
            <a:ext cx="21945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全程离线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7E8DC"/>
                </a:solidFill>
                <a:latin typeface="微软雅黑"/>
                <a:ea typeface="微软雅黑"/>
                <a:cs typeface="微软雅黑"/>
              </a:rPr>
              <a:t>数据不出设备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4048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「这个功能在其它平台上做不到，因为……」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7E8DC"/>
                </a:solidFill>
                <a:latin typeface="微软雅黑"/>
                <a:ea typeface="微软雅黑"/>
                <a:cs typeface="微软雅黑"/>
              </a:rPr>
              <a:t>桌面服务卡片让碳数据常驻桌面，安卓与小程序没有等价机制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7E8DC"/>
                </a:solidFill>
                <a:latin typeface="微软雅黑"/>
                <a:ea typeface="微软雅黑"/>
                <a:cs typeface="微软雅黑"/>
              </a:rPr>
              <a:t>分布式数据同步依赖鸿蒙分布式软总线，设备间直连而不经云端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7E8DC"/>
                </a:solidFill>
                <a:latin typeface="微软雅黑"/>
                <a:ea typeface="微软雅黑"/>
                <a:cs typeface="微软雅黑"/>
              </a:rPr>
              <a:t>端侧 AI 推理与端侧文字识别均为系统级能力，图片不出设备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D7E8DC"/>
                </a:solidFill>
                <a:latin typeface="微软雅黑"/>
                <a:ea typeface="微软雅黑"/>
                <a:cs typeface="微软雅黑"/>
              </a:rPr>
              <a:t>全量本地存储、完全离线可用，演示不依赖任何网络条件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碳迹 —— 碳足迹·全民绿色生活碳积分与减排指南</dc:title>
  <dc:subject>赛题二</dc:subject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